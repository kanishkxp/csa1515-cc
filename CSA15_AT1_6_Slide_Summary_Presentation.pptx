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16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484" y="2130428"/>
            <a:ext cx="5830818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968" y="3886200"/>
            <a:ext cx="480185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76" y="4406903"/>
            <a:ext cx="583081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876" y="2906713"/>
            <a:ext cx="583081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1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2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3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4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5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6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89" y="1600203"/>
            <a:ext cx="3029739" cy="4525963"/>
          </a:xfrm>
        </p:spPr>
        <p:txBody>
          <a:bodyPr/>
          <a:lstStyle>
            <a:lvl1pPr>
              <a:defRPr sz="2801"/>
            </a:lvl1pPr>
            <a:lvl2pPr>
              <a:defRPr sz="2399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7059" y="1600203"/>
            <a:ext cx="3029739" cy="4525963"/>
          </a:xfrm>
        </p:spPr>
        <p:txBody>
          <a:bodyPr/>
          <a:lstStyle>
            <a:lvl1pPr>
              <a:defRPr sz="2801"/>
            </a:lvl1pPr>
            <a:lvl2pPr>
              <a:defRPr sz="2399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89" y="1535113"/>
            <a:ext cx="3030930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207" indent="0">
              <a:buNone/>
              <a:defRPr sz="2000" b="1"/>
            </a:lvl2pPr>
            <a:lvl3pPr marL="914415" indent="0">
              <a:buNone/>
              <a:defRPr sz="1800" b="1"/>
            </a:lvl3pPr>
            <a:lvl4pPr marL="1371622" indent="0">
              <a:buNone/>
              <a:defRPr sz="1600" b="1"/>
            </a:lvl4pPr>
            <a:lvl5pPr marL="1828831" indent="0">
              <a:buNone/>
              <a:defRPr sz="1600" b="1"/>
            </a:lvl5pPr>
            <a:lvl6pPr marL="2286038" indent="0">
              <a:buNone/>
              <a:defRPr sz="1600" b="1"/>
            </a:lvl6pPr>
            <a:lvl7pPr marL="2743246" indent="0">
              <a:buNone/>
              <a:defRPr sz="1600" b="1"/>
            </a:lvl7pPr>
            <a:lvl8pPr marL="3200453" indent="0">
              <a:buNone/>
              <a:defRPr sz="1600" b="1"/>
            </a:lvl8pPr>
            <a:lvl9pPr marL="365766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89" y="2174875"/>
            <a:ext cx="3030930" cy="3951288"/>
          </a:xfrm>
        </p:spPr>
        <p:txBody>
          <a:bodyPr/>
          <a:lstStyle>
            <a:lvl1pPr>
              <a:defRPr sz="2399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678" y="1535113"/>
            <a:ext cx="3032121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207" indent="0">
              <a:buNone/>
              <a:defRPr sz="2000" b="1"/>
            </a:lvl2pPr>
            <a:lvl3pPr marL="914415" indent="0">
              <a:buNone/>
              <a:defRPr sz="1800" b="1"/>
            </a:lvl3pPr>
            <a:lvl4pPr marL="1371622" indent="0">
              <a:buNone/>
              <a:defRPr sz="1600" b="1"/>
            </a:lvl4pPr>
            <a:lvl5pPr marL="1828831" indent="0">
              <a:buNone/>
              <a:defRPr sz="1600" b="1"/>
            </a:lvl5pPr>
            <a:lvl6pPr marL="2286038" indent="0">
              <a:buNone/>
              <a:defRPr sz="1600" b="1"/>
            </a:lvl6pPr>
            <a:lvl7pPr marL="2743246" indent="0">
              <a:buNone/>
              <a:defRPr sz="1600" b="1"/>
            </a:lvl7pPr>
            <a:lvl8pPr marL="3200453" indent="0">
              <a:buNone/>
              <a:defRPr sz="1600" b="1"/>
            </a:lvl8pPr>
            <a:lvl9pPr marL="365766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678" y="2174875"/>
            <a:ext cx="3032121" cy="3951288"/>
          </a:xfrm>
        </p:spPr>
        <p:txBody>
          <a:bodyPr/>
          <a:lstStyle>
            <a:lvl1pPr>
              <a:defRPr sz="2399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90" y="273050"/>
            <a:ext cx="2256822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987" y="273053"/>
            <a:ext cx="3834811" cy="5853113"/>
          </a:xfrm>
        </p:spPr>
        <p:txBody>
          <a:bodyPr/>
          <a:lstStyle>
            <a:lvl1pPr>
              <a:defRPr sz="3201"/>
            </a:lvl1pPr>
            <a:lvl2pPr>
              <a:defRPr sz="2801"/>
            </a:lvl2pPr>
            <a:lvl3pPr>
              <a:defRPr sz="2399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90" y="1435103"/>
            <a:ext cx="2256822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7" indent="0">
              <a:buNone/>
              <a:defRPr sz="1200"/>
            </a:lvl2pPr>
            <a:lvl3pPr marL="914415" indent="0">
              <a:buNone/>
              <a:defRPr sz="1000"/>
            </a:lvl3pPr>
            <a:lvl4pPr marL="1371622" indent="0">
              <a:buNone/>
              <a:defRPr sz="900"/>
            </a:lvl4pPr>
            <a:lvl5pPr marL="1828831" indent="0">
              <a:buNone/>
              <a:defRPr sz="900"/>
            </a:lvl5pPr>
            <a:lvl6pPr marL="2286038" indent="0">
              <a:buNone/>
              <a:defRPr sz="900"/>
            </a:lvl6pPr>
            <a:lvl7pPr marL="2743246" indent="0">
              <a:buNone/>
              <a:defRPr sz="900"/>
            </a:lvl7pPr>
            <a:lvl8pPr marL="3200453" indent="0">
              <a:buNone/>
              <a:defRPr sz="900"/>
            </a:lvl8pPr>
            <a:lvl9pPr marL="3657661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566" y="4800600"/>
            <a:ext cx="4115872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566" y="612775"/>
            <a:ext cx="4115872" cy="4114800"/>
          </a:xfrm>
        </p:spPr>
        <p:txBody>
          <a:bodyPr/>
          <a:lstStyle>
            <a:lvl1pPr marL="0" indent="0">
              <a:buNone/>
              <a:defRPr sz="3201"/>
            </a:lvl1pPr>
            <a:lvl2pPr marL="457207" indent="0">
              <a:buNone/>
              <a:defRPr sz="2801"/>
            </a:lvl2pPr>
            <a:lvl3pPr marL="914415" indent="0">
              <a:buNone/>
              <a:defRPr sz="2399"/>
            </a:lvl3pPr>
            <a:lvl4pPr marL="1371622" indent="0">
              <a:buNone/>
              <a:defRPr sz="2000"/>
            </a:lvl4pPr>
            <a:lvl5pPr marL="1828831" indent="0">
              <a:buNone/>
              <a:defRPr sz="2000"/>
            </a:lvl5pPr>
            <a:lvl6pPr marL="2286038" indent="0">
              <a:buNone/>
              <a:defRPr sz="2000"/>
            </a:lvl6pPr>
            <a:lvl7pPr marL="2743246" indent="0">
              <a:buNone/>
              <a:defRPr sz="2000"/>
            </a:lvl7pPr>
            <a:lvl8pPr marL="3200453" indent="0">
              <a:buNone/>
              <a:defRPr sz="2000"/>
            </a:lvl8pPr>
            <a:lvl9pPr marL="3657661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566" y="5367338"/>
            <a:ext cx="4115872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7" indent="0">
              <a:buNone/>
              <a:defRPr sz="1200"/>
            </a:lvl2pPr>
            <a:lvl3pPr marL="914415" indent="0">
              <a:buNone/>
              <a:defRPr sz="1000"/>
            </a:lvl3pPr>
            <a:lvl4pPr marL="1371622" indent="0">
              <a:buNone/>
              <a:defRPr sz="900"/>
            </a:lvl4pPr>
            <a:lvl5pPr marL="1828831" indent="0">
              <a:buNone/>
              <a:defRPr sz="900"/>
            </a:lvl5pPr>
            <a:lvl6pPr marL="2286038" indent="0">
              <a:buNone/>
              <a:defRPr sz="900"/>
            </a:lvl6pPr>
            <a:lvl7pPr marL="2743246" indent="0">
              <a:buNone/>
              <a:defRPr sz="900"/>
            </a:lvl7pPr>
            <a:lvl8pPr marL="3200453" indent="0">
              <a:buNone/>
              <a:defRPr sz="900"/>
            </a:lvl8pPr>
            <a:lvl9pPr marL="3657661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3345" y="274641"/>
            <a:ext cx="1543452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89" y="274641"/>
            <a:ext cx="4516026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89" y="274638"/>
            <a:ext cx="617380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89" y="1600203"/>
            <a:ext cx="617380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89" y="6356353"/>
            <a:ext cx="1600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760" y="6356353"/>
            <a:ext cx="21722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6180" y="6356353"/>
            <a:ext cx="1600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6" indent="-342906" algn="l" defTabSz="457207" rtl="0" eaLnBrk="1" latinLnBrk="0" hangingPunct="1">
        <a:spcBef>
          <a:spcPct val="20000"/>
        </a:spcBef>
        <a:buFont typeface="Arial"/>
        <a:buChar char="•"/>
        <a:defRPr sz="3201" kern="1200">
          <a:solidFill>
            <a:schemeClr val="tx1"/>
          </a:solidFill>
          <a:latin typeface="+mn-lt"/>
          <a:ea typeface="+mn-ea"/>
          <a:cs typeface="+mn-cs"/>
        </a:defRPr>
      </a:lvl1pPr>
      <a:lvl2pPr marL="742962" indent="-285755" algn="l" defTabSz="457207" rtl="0" eaLnBrk="1" latinLnBrk="0" hangingPunct="1">
        <a:spcBef>
          <a:spcPct val="20000"/>
        </a:spcBef>
        <a:buFont typeface="Arial"/>
        <a:buChar char="–"/>
        <a:defRPr sz="280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0" indent="-228604" algn="l" defTabSz="457207" rtl="0" eaLnBrk="1" latinLnBrk="0" hangingPunct="1">
        <a:spcBef>
          <a:spcPct val="20000"/>
        </a:spcBef>
        <a:buFont typeface="Arial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7" indent="-228604" algn="l" defTabSz="457207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34" indent="-228604" algn="l" defTabSz="457207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42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49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57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64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6591" y="1395415"/>
            <a:ext cx="5830818" cy="1470025"/>
          </a:xfrm>
        </p:spPr>
        <p:txBody>
          <a:bodyPr>
            <a:normAutofit fontScale="90000"/>
          </a:bodyPr>
          <a:lstStyle/>
          <a:p>
            <a:r>
              <a:rPr b="1" dirty="0">
                <a:latin typeface="Comic Sans MS" panose="030F0702030302020204" pitchFamily="66" charset="0"/>
              </a:rPr>
              <a:t>Cloud Computing and Big Data Analytics</a:t>
            </a:r>
            <a:br>
              <a:rPr lang="en-IN" b="1" dirty="0">
                <a:latin typeface="Comic Sans MS" panose="030F0702030302020204" pitchFamily="66" charset="0"/>
              </a:rPr>
            </a:br>
            <a:r>
              <a:rPr lang="en-IN" b="1" dirty="0">
                <a:latin typeface="Comic Sans MS" panose="030F0702030302020204" pitchFamily="66" charset="0"/>
              </a:rPr>
              <a:t>CO2</a:t>
            </a:r>
            <a:endParaRPr b="1" dirty="0">
              <a:latin typeface="Comic Sans MS" panose="030F0702030302020204" pitchFamily="66" charset="0"/>
            </a:endParaRPr>
          </a:p>
          <a:p>
            <a:r>
              <a:rPr b="1" dirty="0">
                <a:latin typeface="Comic Sans MS" panose="030F0702030302020204" pitchFamily="66" charset="0"/>
              </a:rPr>
              <a:t>Assessment Tool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1075" y="3532239"/>
            <a:ext cx="4801850" cy="1752600"/>
          </a:xfrm>
        </p:spPr>
        <p:txBody>
          <a:bodyPr/>
          <a:lstStyle/>
          <a:p>
            <a:r>
              <a:rPr dirty="0"/>
              <a:t>Name: Kanishk C</a:t>
            </a:r>
          </a:p>
          <a:p>
            <a:r>
              <a:rPr dirty="0"/>
              <a:t>Reg. No: 192511278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096" y="559773"/>
            <a:ext cx="6173808" cy="1143000"/>
          </a:xfrm>
        </p:spPr>
        <p:txBody>
          <a:bodyPr>
            <a:normAutofit fontScale="90000"/>
          </a:bodyPr>
          <a:lstStyle/>
          <a:p>
            <a:r>
              <a:rPr dirty="0"/>
              <a:t>Question 1: Type-1 vs Type-2 Hypervisors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5208" y="1702773"/>
            <a:ext cx="6173808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 sz="2200"/>
            </a:pPr>
            <a:r>
              <a:rPr dirty="0"/>
              <a:t>Question:</a:t>
            </a:r>
            <a:br>
              <a:rPr dirty="0"/>
            </a:br>
            <a:r>
              <a:rPr b="1" dirty="0"/>
              <a:t>Compare Type-1 and Type-2 hypervisors for mission-critical cloud datacenters.</a:t>
            </a:r>
            <a:br>
              <a:rPr dirty="0"/>
            </a:br>
            <a:br>
              <a:rPr dirty="0"/>
            </a:br>
            <a:r>
              <a:rPr dirty="0"/>
              <a:t>Summary:</a:t>
            </a:r>
            <a:br>
              <a:rPr dirty="0"/>
            </a:br>
            <a:r>
              <a:rPr dirty="0"/>
              <a:t>• Type-1 runs directly on hardware, giving near-native performance.</a:t>
            </a:r>
            <a:br>
              <a:rPr dirty="0"/>
            </a:br>
            <a:r>
              <a:rPr dirty="0"/>
              <a:t>• Better security due to smaller attack surface.</a:t>
            </a:r>
            <a:br>
              <a:rPr dirty="0"/>
            </a:br>
            <a:r>
              <a:rPr dirty="0"/>
              <a:t>• Supports centralized management, live migration and high availability.</a:t>
            </a:r>
            <a:br>
              <a:rPr dirty="0"/>
            </a:br>
            <a:r>
              <a:rPr dirty="0"/>
              <a:t>• Type-2 depends on a host OS, adding overhead and security risks.</a:t>
            </a:r>
            <a:br>
              <a:rPr dirty="0"/>
            </a:br>
            <a:r>
              <a:rPr dirty="0"/>
              <a:t>• Type-1 is the recommended choice for enterprise cloud datacenters.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096" y="628600"/>
            <a:ext cx="6173808" cy="1143000"/>
          </a:xfrm>
        </p:spPr>
        <p:txBody>
          <a:bodyPr>
            <a:normAutofit fontScale="90000"/>
          </a:bodyPr>
          <a:lstStyle/>
          <a:p>
            <a:r>
              <a:rPr dirty="0"/>
              <a:t>Question 2: Workload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096" y="1788809"/>
            <a:ext cx="6173808" cy="4525963"/>
          </a:xfrm>
        </p:spPr>
        <p:txBody>
          <a:bodyPr>
            <a:normAutofit fontScale="92500"/>
          </a:bodyPr>
          <a:lstStyle/>
          <a:p>
            <a:pPr marL="0" indent="0">
              <a:buNone/>
              <a:defRPr sz="2200"/>
            </a:pPr>
            <a:r>
              <a:rPr dirty="0"/>
              <a:t>Question:</a:t>
            </a:r>
            <a:br>
              <a:rPr dirty="0"/>
            </a:br>
            <a:r>
              <a:rPr b="1" dirty="0"/>
              <a:t>How does virtualization isolate finance, healthcare and student workloads? Identify two attack surfaces.</a:t>
            </a:r>
            <a:br>
              <a:rPr dirty="0"/>
            </a:br>
            <a:br>
              <a:rPr dirty="0"/>
            </a:br>
            <a:r>
              <a:rPr dirty="0"/>
              <a:t>Summary:</a:t>
            </a:r>
            <a:br>
              <a:rPr dirty="0"/>
            </a:br>
            <a:r>
              <a:rPr dirty="0"/>
              <a:t>• Isolation is achieved through compute, storage, network and resource virtualization.</a:t>
            </a:r>
            <a:br>
              <a:rPr dirty="0"/>
            </a:br>
            <a:r>
              <a:rPr dirty="0"/>
              <a:t>• Each VM has separate CPU, memory, storage and virtual network.</a:t>
            </a:r>
            <a:br>
              <a:rPr dirty="0"/>
            </a:br>
            <a:r>
              <a:rPr dirty="0"/>
              <a:t>• Major attack surfaces:</a:t>
            </a:r>
            <a:br>
              <a:rPr dirty="0"/>
            </a:br>
            <a:r>
              <a:rPr dirty="0"/>
              <a:t>  – VM Escape attacks.</a:t>
            </a:r>
            <a:br>
              <a:rPr dirty="0"/>
            </a:br>
            <a:r>
              <a:rPr dirty="0"/>
              <a:t>  – Side-channel/shared hardware attacks.</a:t>
            </a:r>
            <a:br>
              <a:rPr dirty="0"/>
            </a:br>
            <a:r>
              <a:rPr dirty="0"/>
              <a:t>• Mitigation includes patching hypervisors, hardware virtualization and network segmentation.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096" y="608934"/>
            <a:ext cx="6173808" cy="1143000"/>
          </a:xfrm>
        </p:spPr>
        <p:txBody>
          <a:bodyPr>
            <a:normAutofit fontScale="90000"/>
          </a:bodyPr>
          <a:lstStyle/>
          <a:p>
            <a:r>
              <a:rPr dirty="0"/>
              <a:t>Question 3: VM Host Utilization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096" y="1710816"/>
            <a:ext cx="6173808" cy="4525963"/>
          </a:xfrm>
        </p:spPr>
        <p:txBody>
          <a:bodyPr>
            <a:normAutofit fontScale="92500"/>
          </a:bodyPr>
          <a:lstStyle/>
          <a:p>
            <a:pPr marL="0" indent="0">
              <a:buNone/>
              <a:defRPr sz="2200"/>
            </a:pPr>
            <a:r>
              <a:rPr dirty="0"/>
              <a:t>Question:</a:t>
            </a:r>
            <a:br>
              <a:rPr dirty="0"/>
            </a:br>
            <a:r>
              <a:rPr b="1" dirty="0"/>
              <a:t>Analyze the VM host snapshot and recommend corrective actions.</a:t>
            </a:r>
            <a:br>
              <a:rPr dirty="0"/>
            </a:br>
            <a:br>
              <a:rPr dirty="0"/>
            </a:br>
            <a:r>
              <a:rPr dirty="0"/>
              <a:t>Summary:</a:t>
            </a:r>
            <a:br>
              <a:rPr dirty="0"/>
            </a:br>
            <a:r>
              <a:rPr dirty="0"/>
              <a:t>• CPU (92%), memory (88%) and storage latency (35 </a:t>
            </a:r>
            <a:r>
              <a:rPr dirty="0" err="1"/>
              <a:t>ms</a:t>
            </a:r>
            <a:r>
              <a:rPr dirty="0"/>
              <a:t>) indicate an overloaded host.</a:t>
            </a:r>
            <a:br>
              <a:rPr dirty="0"/>
            </a:br>
            <a:r>
              <a:rPr dirty="0"/>
              <a:t>• High resource contention causes slow VM boot time (170 s).</a:t>
            </a:r>
            <a:br>
              <a:rPr dirty="0"/>
            </a:br>
            <a:r>
              <a:rPr dirty="0"/>
              <a:t>• Corrective actions:</a:t>
            </a:r>
            <a:br>
              <a:rPr dirty="0"/>
            </a:br>
            <a:r>
              <a:rPr dirty="0"/>
              <a:t>  – Migrate VMs or add hosts.</a:t>
            </a:r>
            <a:br>
              <a:rPr dirty="0"/>
            </a:br>
            <a:r>
              <a:rPr dirty="0"/>
              <a:t>  – Increase RAM.</a:t>
            </a:r>
            <a:br>
              <a:rPr dirty="0"/>
            </a:br>
            <a:r>
              <a:rPr dirty="0"/>
              <a:t>  – Upgrade storage (SSD/</a:t>
            </a:r>
            <a:r>
              <a:rPr dirty="0" err="1"/>
              <a:t>NVMe</a:t>
            </a:r>
            <a:r>
              <a:rPr dirty="0"/>
              <a:t>).</a:t>
            </a:r>
            <a:br>
              <a:rPr dirty="0"/>
            </a:br>
            <a:r>
              <a:rPr dirty="0"/>
              <a:t>  – Enable load balancing and monitor CPU ready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096" y="559774"/>
            <a:ext cx="6173808" cy="1143000"/>
          </a:xfrm>
        </p:spPr>
        <p:txBody>
          <a:bodyPr>
            <a:normAutofit fontScale="90000"/>
          </a:bodyPr>
          <a:lstStyle/>
          <a:p>
            <a:r>
              <a:rPr dirty="0"/>
              <a:t>Question 4: Software Defined Datacenter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096" y="1702774"/>
            <a:ext cx="6173808" cy="4525963"/>
          </a:xfrm>
        </p:spPr>
        <p:txBody>
          <a:bodyPr/>
          <a:lstStyle/>
          <a:p>
            <a:pPr marL="0" indent="0">
              <a:buNone/>
              <a:defRPr sz="2200"/>
            </a:pPr>
            <a:r>
              <a:rPr dirty="0"/>
              <a:t>Question:</a:t>
            </a:r>
            <a:br>
              <a:rPr dirty="0"/>
            </a:br>
            <a:r>
              <a:rPr b="1" dirty="0"/>
              <a:t>How does SDDC improve agility over a traditional datacenter?</a:t>
            </a:r>
            <a:br>
              <a:rPr dirty="0"/>
            </a:br>
            <a:br>
              <a:rPr dirty="0"/>
            </a:br>
            <a:r>
              <a:rPr dirty="0"/>
              <a:t>Summary:</a:t>
            </a:r>
            <a:br>
              <a:rPr dirty="0"/>
            </a:br>
            <a:r>
              <a:rPr dirty="0"/>
              <a:t>• Compute virtualization enables rapid VM deployment and live migration.</a:t>
            </a:r>
            <a:br>
              <a:rPr dirty="0"/>
            </a:br>
            <a:r>
              <a:rPr dirty="0"/>
              <a:t>• Storage virtualization provides flexible, policy-based storage.</a:t>
            </a:r>
            <a:br>
              <a:rPr dirty="0"/>
            </a:br>
            <a:r>
              <a:rPr dirty="0"/>
              <a:t>• Network virtualization automates networking and security.</a:t>
            </a:r>
            <a:br>
              <a:rPr dirty="0"/>
            </a:br>
            <a:r>
              <a:rPr dirty="0"/>
              <a:t>• Automation and orchestration enable fast, scalable cloud services.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096" y="569606"/>
            <a:ext cx="6173808" cy="1143000"/>
          </a:xfrm>
        </p:spPr>
        <p:txBody>
          <a:bodyPr>
            <a:normAutofit fontScale="90000"/>
          </a:bodyPr>
          <a:lstStyle/>
          <a:p>
            <a:r>
              <a:rPr dirty="0"/>
              <a:t>Question 5: Multi-cloud Identity Federation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096" y="1762431"/>
            <a:ext cx="6173808" cy="4525963"/>
          </a:xfrm>
        </p:spPr>
        <p:txBody>
          <a:bodyPr/>
          <a:lstStyle/>
          <a:p>
            <a:pPr marL="0" indent="0">
              <a:buNone/>
              <a:defRPr sz="2200"/>
            </a:pPr>
            <a:r>
              <a:rPr dirty="0"/>
              <a:t>Question:</a:t>
            </a:r>
            <a:br>
              <a:rPr dirty="0"/>
            </a:br>
            <a:r>
              <a:rPr b="1" dirty="0"/>
              <a:t>Analyze identity mismatches and propose a secure federation design.</a:t>
            </a:r>
            <a:br>
              <a:rPr dirty="0"/>
            </a:br>
            <a:br>
              <a:rPr dirty="0"/>
            </a:br>
            <a:r>
              <a:rPr dirty="0"/>
              <a:t>Summary:</a:t>
            </a:r>
            <a:br>
              <a:rPr dirty="0"/>
            </a:br>
            <a:r>
              <a:rPr dirty="0"/>
              <a:t>• Identity mismatches occur due to different standards and trust models.</a:t>
            </a:r>
            <a:br>
              <a:rPr dirty="0"/>
            </a:br>
            <a:r>
              <a:rPr dirty="0"/>
              <a:t>• Use SAML 2.0 or OpenID Connect with a trusted Identity Provider.</a:t>
            </a:r>
            <a:br>
              <a:rPr dirty="0"/>
            </a:br>
            <a:r>
              <a:rPr dirty="0"/>
              <a:t>• Apply MFA, short-lived tokens and least-privilege access.</a:t>
            </a:r>
            <a:br>
              <a:rPr dirty="0"/>
            </a:br>
            <a:r>
              <a:rPr dirty="0"/>
              <a:t>• Centralized auditing improves security and privacy.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435</Words>
  <Application>Microsoft Office PowerPoint</Application>
  <PresentationFormat>On-screen Show (4:3)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Comic Sans MS</vt:lpstr>
      <vt:lpstr>Office Theme</vt:lpstr>
      <vt:lpstr>Cloud Computing and Big Data Analytics CO2 Assessment Tool 1</vt:lpstr>
      <vt:lpstr>Question 1: Type-1 vs Type-2 Hypervisors</vt:lpstr>
      <vt:lpstr>Question 2: Workload Isolation</vt:lpstr>
      <vt:lpstr>Question 3: VM Host Utilization</vt:lpstr>
      <vt:lpstr>Question 4: Software Defined Datacenter</vt:lpstr>
      <vt:lpstr>Question 5: Multi-cloud Identity Federation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Kanishk C</cp:lastModifiedBy>
  <cp:revision>2</cp:revision>
  <dcterms:created xsi:type="dcterms:W3CDTF">2013-01-27T09:14:16Z</dcterms:created>
  <dcterms:modified xsi:type="dcterms:W3CDTF">2026-08-05T03:30:14Z</dcterms:modified>
  <cp:category/>
</cp:coreProperties>
</file>