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16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484" y="2130426"/>
            <a:ext cx="5830818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968" y="3886200"/>
            <a:ext cx="480185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9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76" y="4406901"/>
            <a:ext cx="5830818" cy="1362075"/>
          </a:xfrm>
        </p:spPr>
        <p:txBody>
          <a:bodyPr anchor="t"/>
          <a:lstStyle>
            <a:lvl1pPr algn="l">
              <a:defRPr sz="3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876" y="2906713"/>
            <a:ext cx="5830818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9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9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97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9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95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94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94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9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89" y="1600201"/>
            <a:ext cx="3029739" cy="4525963"/>
          </a:xfrm>
        </p:spPr>
        <p:txBody>
          <a:bodyPr/>
          <a:lstStyle>
            <a:lvl1pPr>
              <a:defRPr sz="2101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7058" y="1600201"/>
            <a:ext cx="3029739" cy="4525963"/>
          </a:xfrm>
        </p:spPr>
        <p:txBody>
          <a:bodyPr/>
          <a:lstStyle>
            <a:lvl1pPr>
              <a:defRPr sz="2101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89" y="1535113"/>
            <a:ext cx="303093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89" y="2174875"/>
            <a:ext cx="3030930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677" y="1535113"/>
            <a:ext cx="303212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677" y="2174875"/>
            <a:ext cx="303212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90" y="273050"/>
            <a:ext cx="2256822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986" y="273051"/>
            <a:ext cx="3834811" cy="5853113"/>
          </a:xfrm>
        </p:spPr>
        <p:txBody>
          <a:bodyPr/>
          <a:lstStyle>
            <a:lvl1pPr>
              <a:defRPr sz="2401"/>
            </a:lvl1pPr>
            <a:lvl2pPr>
              <a:defRPr sz="2101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90" y="1435101"/>
            <a:ext cx="2256822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566" y="4800600"/>
            <a:ext cx="4115872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566" y="612775"/>
            <a:ext cx="4115872" cy="4114800"/>
          </a:xfrm>
        </p:spPr>
        <p:txBody>
          <a:bodyPr/>
          <a:lstStyle>
            <a:lvl1pPr marL="0" indent="0">
              <a:buNone/>
              <a:defRPr sz="2401"/>
            </a:lvl1pPr>
            <a:lvl2pPr marL="342991" indent="0">
              <a:buNone/>
              <a:defRPr sz="2101"/>
            </a:lvl2pPr>
            <a:lvl3pPr marL="685983" indent="0">
              <a:buNone/>
              <a:defRPr sz="1800"/>
            </a:lvl3pPr>
            <a:lvl4pPr marL="1028974" indent="0">
              <a:buNone/>
              <a:defRPr sz="1500"/>
            </a:lvl4pPr>
            <a:lvl5pPr marL="1371966" indent="0">
              <a:buNone/>
              <a:defRPr sz="1500"/>
            </a:lvl5pPr>
            <a:lvl6pPr marL="1714957" indent="0">
              <a:buNone/>
              <a:defRPr sz="1500"/>
            </a:lvl6pPr>
            <a:lvl7pPr marL="2057949" indent="0">
              <a:buNone/>
              <a:defRPr sz="1500"/>
            </a:lvl7pPr>
            <a:lvl8pPr marL="2400940" indent="0">
              <a:buNone/>
              <a:defRPr sz="1500"/>
            </a:lvl8pPr>
            <a:lvl9pPr marL="27439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566" y="5367338"/>
            <a:ext cx="4115872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3345" y="274639"/>
            <a:ext cx="1543452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89" y="274639"/>
            <a:ext cx="4516026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89" y="274638"/>
            <a:ext cx="617380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89" y="1600201"/>
            <a:ext cx="617380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89" y="6356351"/>
            <a:ext cx="160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760" y="6356351"/>
            <a:ext cx="21722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6180" y="6356351"/>
            <a:ext cx="1600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91" rtl="0" eaLnBrk="1" latinLnBrk="0" hangingPunct="1"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44" indent="-257244" algn="l" defTabSz="342991" rtl="0" eaLnBrk="1" latinLnBrk="0" hangingPunct="1">
        <a:spcBef>
          <a:spcPct val="20000"/>
        </a:spcBef>
        <a:buFont typeface="Arial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1pPr>
      <a:lvl2pPr marL="557361" indent="-214370" algn="l" defTabSz="342991" rtl="0" eaLnBrk="1" latinLnBrk="0" hangingPunct="1">
        <a:spcBef>
          <a:spcPct val="20000"/>
        </a:spcBef>
        <a:buFont typeface="Arial"/>
        <a:buChar char="–"/>
        <a:defRPr sz="2101" kern="1200">
          <a:solidFill>
            <a:schemeClr val="tx1"/>
          </a:solidFill>
          <a:latin typeface="+mn-lt"/>
          <a:ea typeface="+mn-ea"/>
          <a:cs typeface="+mn-cs"/>
        </a:defRPr>
      </a:lvl2pPr>
      <a:lvl3pPr marL="857479" indent="-171496" algn="l" defTabSz="34299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470" indent="-171496" algn="l" defTabSz="342991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461" indent="-171496" algn="l" defTabSz="342991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453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44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436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427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4489" y="1248697"/>
            <a:ext cx="6455022" cy="1956619"/>
          </a:xfrm>
        </p:spPr>
        <p:txBody>
          <a:bodyPr>
            <a:noAutofit/>
          </a:bodyPr>
          <a:lstStyle/>
          <a:p>
            <a:r>
              <a:rPr sz="4000" dirty="0">
                <a:latin typeface="Comic Sans MS" panose="030F0702030302020204" pitchFamily="66" charset="0"/>
              </a:rPr>
              <a:t>Containerization and Cloud-Native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2026" y="3429000"/>
            <a:ext cx="4801850" cy="1752600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Technical Presentation</a:t>
            </a:r>
          </a:p>
          <a:p>
            <a:r>
              <a:rPr dirty="0"/>
              <a:t>Course: Cloud Computing and Big Data Analytics</a:t>
            </a:r>
          </a:p>
          <a:p>
            <a:r>
              <a:rPr dirty="0"/>
              <a:t>Prepared </a:t>
            </a:r>
            <a:r>
              <a:rPr lang="en-IN" dirty="0"/>
              <a:t>by </a:t>
            </a:r>
            <a:r>
              <a:rPr lang="en-IN" dirty="0">
                <a:solidFill>
                  <a:schemeClr val="tx1"/>
                </a:solidFill>
              </a:rPr>
              <a:t>KANISHK C</a:t>
            </a:r>
            <a:br>
              <a:rPr lang="en-IN" dirty="0"/>
            </a:br>
            <a:r>
              <a:rPr lang="en-IN" dirty="0">
                <a:solidFill>
                  <a:schemeClr val="tx1"/>
                </a:solidFill>
              </a:rPr>
              <a:t>192511278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096" y="399559"/>
            <a:ext cx="6173808" cy="1143000"/>
          </a:xfrm>
        </p:spPr>
        <p:txBody>
          <a:bodyPr>
            <a:normAutofit/>
          </a:bodyPr>
          <a:lstStyle/>
          <a:p>
            <a:r>
              <a:rPr sz="3800" b="1" dirty="0"/>
              <a:t>Objectives &amp;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4816" y="2038864"/>
            <a:ext cx="547222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sz="3300" dirty="0"/>
              <a:t>• Define containerization</a:t>
            </a:r>
          </a:p>
          <a:p>
            <a:pPr>
              <a:defRPr sz="2400"/>
            </a:pPr>
            <a:r>
              <a:rPr sz="3300" dirty="0"/>
              <a:t>• Explain architecture</a:t>
            </a:r>
          </a:p>
          <a:p>
            <a:pPr>
              <a:defRPr sz="2400"/>
            </a:pPr>
            <a:r>
              <a:rPr sz="3300" dirty="0"/>
              <a:t>• Cloud-native principles</a:t>
            </a:r>
          </a:p>
          <a:p>
            <a:pPr>
              <a:defRPr sz="2400"/>
            </a:pPr>
            <a:r>
              <a:rPr sz="3300" dirty="0"/>
              <a:t>• Industry relevance</a:t>
            </a:r>
          </a:p>
          <a:p>
            <a:pPr>
              <a:defRPr sz="2400"/>
            </a:pPr>
            <a:r>
              <a:rPr sz="3300" dirty="0"/>
              <a:t>• Practical example</a:t>
            </a:r>
          </a:p>
          <a:p>
            <a:pPr>
              <a:defRPr sz="2400"/>
            </a:pPr>
            <a:r>
              <a:rPr sz="3300" dirty="0"/>
              <a:t>•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096" y="846138"/>
            <a:ext cx="6173808" cy="1143000"/>
          </a:xfrm>
        </p:spPr>
        <p:txBody>
          <a:bodyPr>
            <a:normAutofit/>
          </a:bodyPr>
          <a:lstStyle/>
          <a:p>
            <a:r>
              <a:rPr sz="3800" b="1" dirty="0"/>
              <a:t>What is Containerization?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9559" y="2604388"/>
            <a:ext cx="7159706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sz="3300" dirty="0"/>
              <a:t>• Containers package application + dependencies</a:t>
            </a:r>
          </a:p>
          <a:p>
            <a:pPr>
              <a:defRPr sz="2400"/>
            </a:pPr>
            <a:r>
              <a:rPr sz="3300" dirty="0"/>
              <a:t>• Lightweight virtualization</a:t>
            </a:r>
          </a:p>
          <a:p>
            <a:pPr>
              <a:defRPr sz="2400"/>
            </a:pPr>
            <a:r>
              <a:rPr sz="3300" dirty="0"/>
              <a:t>• Share host OS kernel</a:t>
            </a:r>
          </a:p>
          <a:p>
            <a:pPr>
              <a:defRPr sz="2400"/>
            </a:pPr>
            <a:r>
              <a:rPr sz="3300" dirty="0"/>
              <a:t>• Faster startup than VMs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096" y="462424"/>
            <a:ext cx="6173808" cy="1143000"/>
          </a:xfrm>
        </p:spPr>
        <p:txBody>
          <a:bodyPr>
            <a:normAutofit/>
          </a:bodyPr>
          <a:lstStyle/>
          <a:p>
            <a:r>
              <a:rPr sz="3800" b="1" dirty="0"/>
              <a:t>Container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2410" y="1802069"/>
            <a:ext cx="7136697" cy="3647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sz="3300" dirty="0"/>
              <a:t>Layers:</a:t>
            </a:r>
          </a:p>
          <a:p>
            <a:pPr>
              <a:defRPr sz="2400"/>
            </a:pPr>
            <a:r>
              <a:rPr sz="3300" dirty="0"/>
              <a:t>• Infrastructure</a:t>
            </a:r>
          </a:p>
          <a:p>
            <a:pPr>
              <a:defRPr sz="2400"/>
            </a:pPr>
            <a:r>
              <a:rPr sz="3300" dirty="0"/>
              <a:t>• Host OS</a:t>
            </a:r>
          </a:p>
          <a:p>
            <a:pPr>
              <a:defRPr sz="2400"/>
            </a:pPr>
            <a:r>
              <a:rPr sz="3300" dirty="0"/>
              <a:t>• Container </a:t>
            </a:r>
            <a:r>
              <a:rPr sz="3300" dirty="0" err="1"/>
              <a:t>Runtim</a:t>
            </a:r>
            <a:r>
              <a:rPr lang="en-IN" sz="3300" dirty="0"/>
              <a:t>e</a:t>
            </a:r>
            <a:endParaRPr sz="3300" dirty="0"/>
          </a:p>
          <a:p>
            <a:pPr>
              <a:defRPr sz="2400"/>
            </a:pPr>
            <a:r>
              <a:rPr sz="3300" dirty="0"/>
              <a:t>• Images</a:t>
            </a:r>
          </a:p>
          <a:p>
            <a:pPr>
              <a:defRPr sz="2400"/>
            </a:pPr>
            <a:r>
              <a:rPr sz="3300" dirty="0"/>
              <a:t>• Containers</a:t>
            </a:r>
          </a:p>
          <a:p>
            <a:pPr>
              <a:defRPr sz="2400"/>
            </a:pPr>
            <a:r>
              <a:rPr sz="3300" dirty="0"/>
              <a:t>Benefits: isolation, portability,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096" y="510613"/>
            <a:ext cx="6173808" cy="1143000"/>
          </a:xfrm>
        </p:spPr>
        <p:txBody>
          <a:bodyPr>
            <a:normAutofit/>
          </a:bodyPr>
          <a:lstStyle/>
          <a:p>
            <a:r>
              <a:rPr sz="3800" b="1" dirty="0"/>
              <a:t>Cloud-Native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0731" y="2014508"/>
            <a:ext cx="3074111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sz="3300" dirty="0"/>
              <a:t>• Microservices</a:t>
            </a:r>
          </a:p>
          <a:p>
            <a:pPr>
              <a:defRPr sz="2400"/>
            </a:pPr>
            <a:r>
              <a:rPr sz="3300" dirty="0"/>
              <a:t>• DevOps</a:t>
            </a:r>
          </a:p>
          <a:p>
            <a:pPr>
              <a:defRPr sz="2400"/>
            </a:pPr>
            <a:r>
              <a:rPr sz="3300" dirty="0"/>
              <a:t>• CI/CD</a:t>
            </a:r>
          </a:p>
          <a:p>
            <a:pPr>
              <a:defRPr sz="2400"/>
            </a:pPr>
            <a:r>
              <a:rPr sz="3300" dirty="0"/>
              <a:t>• Scalability</a:t>
            </a:r>
          </a:p>
          <a:p>
            <a:pPr>
              <a:defRPr sz="2400"/>
            </a:pPr>
            <a:r>
              <a:rPr sz="3300" dirty="0"/>
              <a:t>• Resilience</a:t>
            </a:r>
          </a:p>
          <a:p>
            <a:pPr>
              <a:defRPr sz="2400"/>
            </a:pPr>
            <a:r>
              <a:rPr sz="3300" dirty="0"/>
              <a:t>• API-first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096" y="559774"/>
            <a:ext cx="6173808" cy="1143000"/>
          </a:xfrm>
        </p:spPr>
        <p:txBody>
          <a:bodyPr>
            <a:normAutofit/>
          </a:bodyPr>
          <a:lstStyle/>
          <a:p>
            <a:r>
              <a:rPr sz="3800" b="1" dirty="0"/>
              <a:t>Benefits of Containerization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5096" y="2053837"/>
            <a:ext cx="5018490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sz="3300" dirty="0"/>
              <a:t>• Rapid deployment</a:t>
            </a:r>
          </a:p>
          <a:p>
            <a:pPr>
              <a:defRPr sz="2400"/>
            </a:pPr>
            <a:r>
              <a:rPr sz="3300" dirty="0"/>
              <a:t>• Portability</a:t>
            </a:r>
          </a:p>
          <a:p>
            <a:pPr>
              <a:defRPr sz="2400"/>
            </a:pPr>
            <a:r>
              <a:rPr sz="3300" dirty="0"/>
              <a:t>• Resource efficiency</a:t>
            </a:r>
          </a:p>
          <a:p>
            <a:pPr>
              <a:defRPr sz="2400"/>
            </a:pPr>
            <a:r>
              <a:rPr sz="3300" dirty="0"/>
              <a:t>• Consistent environments</a:t>
            </a:r>
          </a:p>
          <a:p>
            <a:pPr>
              <a:defRPr sz="2400"/>
            </a:pPr>
            <a:r>
              <a:rPr sz="3300" dirty="0"/>
              <a:t>• Easy scaling</a:t>
            </a:r>
          </a:p>
          <a:p>
            <a:pPr>
              <a:defRPr sz="2400"/>
            </a:pPr>
            <a:r>
              <a:rPr sz="3300" dirty="0"/>
              <a:t>• Faster development cycles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096" y="438223"/>
            <a:ext cx="6173808" cy="1143000"/>
          </a:xfrm>
        </p:spPr>
        <p:txBody>
          <a:bodyPr>
            <a:normAutofit/>
          </a:bodyPr>
          <a:lstStyle/>
          <a:p>
            <a:r>
              <a:rPr sz="3800" b="1" dirty="0"/>
              <a:t>Industry Relevance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5096" y="2112831"/>
            <a:ext cx="689381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sz="3300" dirty="0"/>
              <a:t>• Used in banking, e-commerce, </a:t>
            </a:r>
            <a:r>
              <a:rPr lang="en-IN" sz="3300" dirty="0"/>
              <a:t>           </a:t>
            </a:r>
            <a:r>
              <a:rPr sz="3300" dirty="0"/>
              <a:t>healthcare, streaming, gaming</a:t>
            </a:r>
          </a:p>
          <a:p>
            <a:pPr>
              <a:defRPr sz="2400"/>
            </a:pPr>
            <a:r>
              <a:rPr sz="3300" dirty="0"/>
              <a:t>• Supports hybrid &amp; multi-cloud</a:t>
            </a:r>
          </a:p>
          <a:p>
            <a:pPr>
              <a:defRPr sz="2400"/>
            </a:pPr>
            <a:r>
              <a:rPr sz="3300" dirty="0"/>
              <a:t>• Reduces infrastructure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096" y="399559"/>
            <a:ext cx="6173808" cy="1143000"/>
          </a:xfrm>
        </p:spPr>
        <p:txBody>
          <a:bodyPr>
            <a:normAutofit/>
          </a:bodyPr>
          <a:lstStyle/>
          <a:p>
            <a:r>
              <a:rPr sz="3800" b="1" dirty="0"/>
              <a:t>Real-World Example: Netflix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9535" y="1542559"/>
            <a:ext cx="674493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sz="3300" dirty="0"/>
              <a:t>Netflix packages microservices into containers to achieve scalability, fault tolerance and rapid deployments serving millions of users worldwide.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096" y="438223"/>
            <a:ext cx="6173808" cy="1143000"/>
          </a:xfrm>
        </p:spPr>
        <p:txBody>
          <a:bodyPr>
            <a:normAutofit/>
          </a:bodyPr>
          <a:lstStyle/>
          <a:p>
            <a:r>
              <a:rPr sz="3800" b="1" dirty="0"/>
              <a:t>Limitations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5096" y="1975178"/>
            <a:ext cx="4463017" cy="263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sz="3300" dirty="0"/>
              <a:t>• Security concerns</a:t>
            </a:r>
          </a:p>
          <a:p>
            <a:pPr>
              <a:defRPr sz="2400"/>
            </a:pPr>
            <a:r>
              <a:rPr sz="3300" dirty="0"/>
              <a:t>• Networking complexity</a:t>
            </a:r>
          </a:p>
          <a:p>
            <a:pPr>
              <a:defRPr sz="2400"/>
            </a:pPr>
            <a:r>
              <a:rPr sz="3300" dirty="0"/>
              <a:t>• Persistent storage</a:t>
            </a:r>
          </a:p>
          <a:p>
            <a:pPr>
              <a:defRPr sz="2400"/>
            </a:pPr>
            <a:r>
              <a:rPr sz="3300" dirty="0"/>
              <a:t>• Monitoring challenges</a:t>
            </a:r>
          </a:p>
          <a:p>
            <a:pPr>
              <a:defRPr sz="2400"/>
            </a:pPr>
            <a:r>
              <a:rPr sz="3300" dirty="0"/>
              <a:t>• Learning curve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096" y="606036"/>
            <a:ext cx="6173808" cy="1143000"/>
          </a:xfrm>
        </p:spPr>
        <p:txBody>
          <a:bodyPr>
            <a:normAutofit/>
          </a:bodyPr>
          <a:lstStyle/>
          <a:p>
            <a:r>
              <a:rPr sz="3800" b="1" dirty="0"/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4022" y="1965346"/>
            <a:ext cx="5238293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sz="3300" dirty="0"/>
              <a:t>• AI-driven orchestration</a:t>
            </a:r>
          </a:p>
          <a:p>
            <a:pPr>
              <a:defRPr sz="2400"/>
            </a:pPr>
            <a:r>
              <a:rPr sz="3300" dirty="0"/>
              <a:t>• Edge computing integration</a:t>
            </a:r>
          </a:p>
          <a:p>
            <a:pPr>
              <a:defRPr sz="2400"/>
            </a:pPr>
            <a:r>
              <a:rPr sz="3300" dirty="0"/>
              <a:t>• Serverless containers</a:t>
            </a:r>
          </a:p>
          <a:p>
            <a:pPr>
              <a:defRPr sz="2400"/>
            </a:pPr>
            <a:r>
              <a:rPr sz="3300" dirty="0"/>
              <a:t>• Better security automation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096" y="628600"/>
            <a:ext cx="6173808" cy="1143000"/>
          </a:xfrm>
        </p:spPr>
        <p:txBody>
          <a:bodyPr>
            <a:normAutofit/>
          </a:bodyPr>
          <a:lstStyle/>
          <a:p>
            <a:r>
              <a:rPr sz="3800" b="1" dirty="0"/>
              <a:t>Conclusion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2723" y="1936142"/>
            <a:ext cx="71185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sz="3300" dirty="0"/>
              <a:t>Key Takeaways:</a:t>
            </a:r>
          </a:p>
          <a:p>
            <a:pPr>
              <a:defRPr sz="2400"/>
            </a:pPr>
            <a:r>
              <a:rPr sz="3300" dirty="0"/>
              <a:t>• Containers modernize software deployment</a:t>
            </a:r>
          </a:p>
          <a:p>
            <a:pPr>
              <a:defRPr sz="2400"/>
            </a:pPr>
            <a:r>
              <a:rPr sz="3300" dirty="0"/>
              <a:t>• Cloud-native improves agility</a:t>
            </a:r>
          </a:p>
          <a:p>
            <a:pPr>
              <a:defRPr sz="2400"/>
            </a:pPr>
            <a:r>
              <a:rPr sz="3300" dirty="0"/>
              <a:t>• Kubernetes enables orchestration</a:t>
            </a:r>
          </a:p>
          <a:p>
            <a:pPr>
              <a:defRPr sz="2400"/>
            </a:pPr>
            <a:endParaRPr sz="3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225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Comic Sans MS</vt:lpstr>
      <vt:lpstr>Office Theme</vt:lpstr>
      <vt:lpstr>Containerization and Cloud-Native Applications</vt:lpstr>
      <vt:lpstr>Objectives &amp; Agenda</vt:lpstr>
      <vt:lpstr>What is Containerization?</vt:lpstr>
      <vt:lpstr>Container Architecture</vt:lpstr>
      <vt:lpstr>Cloud-Native Applications</vt:lpstr>
      <vt:lpstr>Benefits of Containerization</vt:lpstr>
      <vt:lpstr>Industry Relevance</vt:lpstr>
      <vt:lpstr>Real-World Example: Netflix</vt:lpstr>
      <vt:lpstr>Limitations &amp; Challenges</vt:lpstr>
      <vt:lpstr>Future Scope</vt:lpstr>
      <vt:lpstr>Conclusion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Kanishk C</cp:lastModifiedBy>
  <cp:revision>4</cp:revision>
  <dcterms:created xsi:type="dcterms:W3CDTF">2013-01-27T09:14:16Z</dcterms:created>
  <dcterms:modified xsi:type="dcterms:W3CDTF">2026-07-24T09:07:58Z</dcterms:modified>
  <cp:category/>
</cp:coreProperties>
</file>